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28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663279"/>
            <a:ext cx="11581447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2563EB"/>
                </a:solidFill>
                <a:latin typeface="Inter"/>
              </a:rPr>
              <a:t>Webfejlesztés Mesterfokon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524250"/>
            <a:ext cx="8572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HTML, CSS és JavaScript: A weboldalak és webalkalmazások építésének átfogó, 30 diás útmutatója informatikus technikumos diákok számára.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70782"/>
            <a:ext cx="5324475" cy="3849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70782"/>
            <a:ext cx="5324475" cy="3849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313682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 Weboldalak Csontváza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723257"/>
            <a:ext cx="4638675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HTML (HyperText Markup Language)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nem programozási nyelv, hanem egy jelölőnyelv. Arra szolgál, hogy meghatározza a weboldal szerkezetét és tartalmát. Minden, amit egy böngésző megjelenít (szövegek, képek, linkek, űrlapok), HTML elemekből (tagekből) épül fel.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511873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Képzeld el úgy, mint egy ház építésénél a téglafalakat és a gerendákat: ez adja meg a stabilitást és az alapvető struktúrát.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13682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Szemantika és Szabványok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723257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HTML elemek jelentést hordoznak. Amikor egy szöveget címsornak jelölünk ki, a böngészők, a keresőmotorok (Google) és a képernyőolvasó programok is tudni fogják, hogy az egy fontos elem.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963292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modern webfejlesztésben jelenleg 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HTML5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szabványt használjuk, amely bevezette a multimédiás és szemantikus elemek natív támogatását.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Mi az a HTML és miért használjuk?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19486"/>
            <a:ext cx="5324475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224236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Minden szabványos weboldal egy kötelező alapstruktúrára épül (ezt hívjuk boilerplate-nek):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915691"/>
            <a:ext cx="5086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: Közli a böngészővel, hogy HTML5-öt használunk.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304282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: A gyökérelem, ami magába foglal mindent.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lang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attribútum a nyelvet jelöli.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67162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: Metaadatok (karakterkódolás, viewport a mobilokhoz) és a böngésző fülön megjelenő cím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&lt;/div&gt;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 helye. Ide csatoljuk a CSS-t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904333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: A weboldal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látható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tartalma. Itt helyezkedik el minden szöveg, kép és felhasználói felület.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957661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2957661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"hu"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295766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386286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charset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0" y="3386286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"UTF-8"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9575" y="338628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600598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2325" y="3600598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"viewport"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5300" y="3600598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1100" y="3600598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"width=device-width"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600598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3814911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&lt;/div&gt;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2934741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332333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398621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4923383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A HTML Dokumentum Alapszerkezete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33612"/>
            <a:ext cx="3486150" cy="33240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33612"/>
            <a:ext cx="3486150" cy="33240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33612"/>
            <a:ext cx="3486150" cy="3324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186112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Címsorok (Headings)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95687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Hat szintű címsor létezik: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-től (legnagyobb, legfontosabb)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-ig (legkisebb). Egy oldalon ideálisan csak egy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elem szerepel, ez a főcím.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186112"/>
            <a:ext cx="30403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Bekezdések (Paragraphs)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890962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elem jelöli a bekezdéseket. A böngészők automatikusan térközt (margót) raknak a bekezdések elé és mögé. Sortöréshez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(break) taget használjuk.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186112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Kiemelések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595687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Szöveg vastagítására a szemantikus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taget, míg dőlt betűs kiemelésre (hangsúlyozásra)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(emphasis) taget alkalmazzuk modern HTML-ben.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566987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566987"/>
            <a:ext cx="3429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566987"/>
            <a:ext cx="2857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Alapvető Szövegformázó Elemek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76636"/>
            <a:ext cx="5324475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281386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weboldalakon gyakran kell adatokat felsorolás vagy sorszámozás formájában megjeleníteni. Két fő listatípust különböztetünk meg: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3247132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Rendezetlen lista (Unordered List):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taggel hozzuk létre. A listaelemek előtt alapértelmezetten "pöttyök" (bullet points) jelennek meg. Menük és navigációk alapjául is szolgál.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4184302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Rendezett lista (Ordered List):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taggel hozzuk létre. A listaelemek automatikusan sorszámozva lesznek (1, 2, 3...).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847183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Mindkét lista belsejében a listaelemeket (lista tételeket)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(List Item) tag határozza meg.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26618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20335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866233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Listák Készítése HTML-ben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62" y="1990725"/>
            <a:ext cx="3810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333303"/>
            <a:ext cx="5324475" cy="6143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0" y="1957982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Az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 (Anchor)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367557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hivatkozások kötik össze az internetet. Használatukhoz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taget alkalmazzuk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href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(Hypertext REFerence) attribútummal, amely megadja a cél URL-t.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090541"/>
            <a:ext cx="53244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Fontos attribútumok: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362" y="2028825"/>
            <a:ext cx="3733800" cy="3733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6525" y="3542853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href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3542853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"https://google.com"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5375" y="3542853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5450" y="3542853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"_blank"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0" y="3542853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507706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href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Hová vezessen a link? Lehet külső weboldal (abszolút URL) vagy a mi oldalunk egy másik fájlja (relatív URL).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5170586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target="_blank"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A hivatkozást egy új böngésző fülön nyitja meg, így a felhasználó nem hagyja el a mi oldalunkat.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4526756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5189636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A Web Lelke: Hivatkozások (Linkek)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481833"/>
            <a:ext cx="5276850" cy="614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5540692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Képek és Multimédia beágyazása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695450"/>
            <a:ext cx="52768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380803"/>
            <a:ext cx="55406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Vizuális Tartalmak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90378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Képeket az önzáró (nincs lezáró párja)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taggel szúrunk be.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src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(source) mutat a kép elérési útjára.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239071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kötelező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alt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(alternatív szöveg) attribútum rendkívül fontos! Ez jelenik meg, ha a kép nem töltődik be, és ezt olvassák fel a vakok által használt képernyőolvasók (Accessibility).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204817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Modern weben videókat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taggel, zenét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taggel könnyedén integrálhatunk külső lejátszók nélkül.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691383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src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691383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"logo.png"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925" y="3691383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alt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9825" y="3691383"/>
            <a:ext cx="1028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"Cég logója"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250" y="3691383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0" y="3691383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"200"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7225" y="3691383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06959"/>
            <a:ext cx="3486150" cy="35773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106959"/>
            <a:ext cx="3486150" cy="35773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106959"/>
            <a:ext cx="3486150" cy="35773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05945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 Konténer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69034"/>
            <a:ext cx="2895600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Interaktív adatbekéréshez űrlapot használunk. Minden mezőt egy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elemen belül kell elhelyezni. Két fő attribútuma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action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(melyik szerveroldali fájlnak küldje az adatot) és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method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(GET vagy POST adatküldési mód).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05945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 Címke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69034"/>
            <a:ext cx="28956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Minden beviteli mezőhöz tartoznia kell egy címkének.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összekapcsolható a mező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id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attribútumával, így a szövegre kattintva is fókuszba kerül a beviteli mező.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05945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 Gomb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469034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Az adatok elküldését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 végzi. Ha rákattintunk, a böngésző összegyűjti az űrlap adatait és végrehajtja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-ban megadott műveletet.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440334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440334"/>
            <a:ext cx="428625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HTML Űrlapok (Forms) Működése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830734"/>
            <a:ext cx="11029950" cy="412983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830734"/>
          <a:ext cx="11020423" cy="4129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35918"/>
                <a:gridCol w="3248173"/>
                <a:gridCol w="6136332"/>
              </a:tblGrid>
              <a:tr h="5899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HTML Kód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Típus / Megjelenés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Mire használjuk?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Egysoros szövegdoboz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Nevek, felhasználónevek, rövid válaszok bekérése.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Jelszó mező (Kipontozott)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Jelszavak biztonságos beírására, elrejti a karaktereket.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E-mail formátum (Validál)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Böngésző szinten ellenőrzi, hogy van-e benne '@' jel.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Rádiógomb (Kör alakú)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Több opció közül csak </a:t>
                      </a:r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egy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kiválasztása lehetséges.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Jelölőnégyzet (Kocka)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Több opció közül </a:t>
                      </a:r>
                      <a:r>
                        <a:rPr b="1" sz="1350" i="0" u="none">
                          <a:solidFill>
                            <a:srgbClr val="475569"/>
                          </a:solidFill>
                          <a:latin typeface="Inter"/>
                        </a:rPr>
                        <a:t>bármennyi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kiválasztható (pl. ÁSZF).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9981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Többsoros szövegdoboz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Hosszú szövegek, üzenetek, kommentek írására.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414587"/>
            <a:ext cx="1635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21706" y="2414587"/>
            <a:ext cx="324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69880" y="2414587"/>
            <a:ext cx="6136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787" y="3003202"/>
            <a:ext cx="1635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21706" y="3003202"/>
            <a:ext cx="324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69880" y="3003202"/>
            <a:ext cx="6136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787" y="3591817"/>
            <a:ext cx="1635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21706" y="3591817"/>
            <a:ext cx="324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9880" y="3591817"/>
            <a:ext cx="6136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" y="4180433"/>
            <a:ext cx="1635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21706" y="4180433"/>
            <a:ext cx="324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69880" y="4180433"/>
            <a:ext cx="6136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787" y="4769048"/>
            <a:ext cx="1635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21706" y="4769048"/>
            <a:ext cx="324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69880" y="4769048"/>
            <a:ext cx="6136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787" y="5357663"/>
            <a:ext cx="1635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21706" y="5357663"/>
            <a:ext cx="3248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69880" y="5357663"/>
            <a:ext cx="6136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A Legfontosabb Input Típusok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85057"/>
            <a:ext cx="5324475" cy="40213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85057"/>
            <a:ext cx="5324475" cy="40213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877567"/>
            <a:ext cx="4638675" cy="1685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227957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 "Div-leves" vége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637532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Régen minden elrendezési blokkot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-ekkel csináltak. A HTML5 bevezette a szemantikus tageket, hogy a dokumentum struktúrája gép által is "olvasható" és értelmezhető legyen.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27957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Miért kritikus a használatuk?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37532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1. Keresőoptimalizálás (SEO):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 Google algoritmusa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és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tagekben keresi a releváns tartalmat, ignorálva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-ben lévő jogi szövegeket.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603277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2. Hozzáférhetőség (A11y):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 képernyőolvasók segítségével a látássérült felhasználók egyből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elemhez ugorhatnak, vagy átugorhatják azt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tartalom kedvéért.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087117"/>
            <a:ext cx="1800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Fejléc (logó, kereső)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301430"/>
            <a:ext cx="2057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Navigációs menü (linkek)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515742"/>
            <a:ext cx="23145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Az oldal fő egyedi tartalma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4730055"/>
            <a:ext cx="1800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Önálló blog bejegyzés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5158680"/>
            <a:ext cx="2057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Lábléc (copyright, ASZF)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Korszerű HTML5 Szemantikus Szerkezet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30879" y="2430809"/>
            <a:ext cx="1930241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2563EB"/>
                </a:solidFill>
                <a:latin typeface="Inter"/>
              </a:rPr>
              <a:t>CSS3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625" y="3545234"/>
            <a:ext cx="142875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43287" y="3888134"/>
            <a:ext cx="53054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Inter"/>
              </a:rPr>
              <a:t>A Weboldalak Stílusa és Vizuális Megjelenése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44179"/>
            <a:ext cx="3486150" cy="33030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44179"/>
            <a:ext cx="3486150" cy="33030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44179"/>
            <a:ext cx="3486150" cy="3303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19667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Inline (Sorközi)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06254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Közvetlenül a HTML tagben,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style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attribútummal. Gyors, de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kerülendő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mert nehezen karbantartható és sérti a "szétválasztás" elvét.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19667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Internal (Belső)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606254"/>
            <a:ext cx="28956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HTML dokumentum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részében, egy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...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blokkban helyezzük el. Egyoldalas projekteknél vagy tesztelésnél hasznos.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19667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External (Külső)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606254"/>
            <a:ext cx="28956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professzionális megoldás! Külön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.css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fájlban tároljuk a dizájnt, amit a HTML fejlécében csatolunk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kóddal.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577554"/>
            <a:ext cx="47625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577554"/>
            <a:ext cx="2857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577554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Hogyan formázzuk a HTML-t CSS-el?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21668"/>
            <a:ext cx="5324475" cy="4043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826418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CSS szabályok két fő részből állnak: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Szelektor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(kijelöli, hogy mely HTML elemekre vonatkozzon a szabály) és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Deklaráció(k)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(a konkrét stílus beállítások). A három leggyakoribb szelektor: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792164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Elem (Tag) szelektor: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Minden adott típusú HTML elemre hat. Pl.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p { ... }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 összes bekezdést megváltoztatja.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455044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Osztály (Class) szelektor (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.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Többször felhasználható stílus. A HTML-ben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class="gomb"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attribútummal hivatkozunk rá.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392215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Azonosító (ID) szelektor (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#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Egyedi elemekhez. Egy oldalon egy ID csak egyszer szerepelhet! HTML-ben: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id="fejlec"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131218"/>
            <a:ext cx="28289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Tag szelektor - Minden elem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345531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7975" y="2559843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8050" y="2559843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#2563eb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7975" y="2774156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text-align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6675" y="2774156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417093"/>
            <a:ext cx="33432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Class szelektor - Osztály alapján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631406"/>
            <a:ext cx="1285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.kiemelt-szoveg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845718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font-weight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45718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bold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4060031"/>
            <a:ext cx="1371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background-color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1025" y="4060031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4702968"/>
            <a:ext cx="3171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ID szelektor - Egyedi azonosító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4917281"/>
            <a:ext cx="1114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#fo-navigacio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7975" y="5131593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padding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0" y="5131593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20px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7975" y="5345906"/>
            <a:ext cx="1114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border-bottom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3850" y="5345906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1px solid gray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2811214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025" y="3474094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25" y="441126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CSS Szintaxis és Szelektorok (Kiválasztók)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30722"/>
            <a:ext cx="5324475" cy="43300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30722"/>
            <a:ext cx="5324475" cy="43300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74652"/>
            <a:ext cx="4638675" cy="2543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073622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Színek Megadása CSS-ben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483197"/>
            <a:ext cx="46386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Színeket adhatunk szövegnek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color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 vagy háttérnek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background-color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 Több formátum is létezik: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073622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Tipográfia és Betűtípusok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83197"/>
            <a:ext cx="46386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weboldal olvashatóságát ezekkel a parancsokkal állítjuk be: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174652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Név alapján: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red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blue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tomato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563242"/>
            <a:ext cx="4400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Hexadecimális kód: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#ff0000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#ffffff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(A leggyakoribb)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226123"/>
            <a:ext cx="440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RGB (Red, Green, Blue):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rgb(255, 0,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4614713"/>
            <a:ext cx="4400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RGBA (Átlátszósággal):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rgba(0, 0, 0, 0.5)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(50% áttetsző fekete)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9425" y="3384202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75" y="3598515"/>
            <a:ext cx="24860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Betűtípus (fallback-el)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875" y="3812827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font-family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5300" y="3812827"/>
            <a:ext cx="2228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'Inter', Arial, sans-serif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875" y="4027140"/>
            <a:ext cx="1285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Betűméret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4241452"/>
            <a:ext cx="771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font-size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3850" y="4241452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16px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4455765"/>
            <a:ext cx="3600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Betűvastagság (400=normal, 700=bold) */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875" y="4670077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font-weight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5300" y="4670077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875" y="4884390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Sorköz (olvashatóságért) */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5098702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line-height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5300" y="5098702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1.6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319370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358229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4245173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4633763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Színek, Hátterek és Tipográfia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03189"/>
            <a:ext cx="532447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703189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Minden HTML elem a böngésző számára egy téglalap alakú "doboz". Ennek a doboznak a rétegeit nevezzük Box Modelnek: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122366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Inter"/>
              </a:rPr>
              <a:t>Tipp: Használd a 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box-sizing: border-box;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 szabályt minden elemen, hogy a padding és border ne növelje meg a megadott szélességet!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2394644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Content (Tartalom):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Maga a szöveg vagy kép.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width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és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height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határozza meg).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057525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Padding (Belső Margó):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Térköz a tartalom és a keret között. Ha a doboznak van háttere, a padding területére is kiterjed.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20405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Border (Keret):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 padding körüli vonal (pl.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border: 1px solid black;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383285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Margin (Külső Margó):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Térköz a keret és a többi, szomszédos elem között. Ez teljesen átlátszó.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07964"/>
            <a:ext cx="5114925" cy="407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2413694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07657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73945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40233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A CSS Dobozmodell (Box Model)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69889"/>
            <a:ext cx="3486150" cy="3851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969889"/>
            <a:ext cx="3486150" cy="3851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969889"/>
            <a:ext cx="3486150" cy="38516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922389"/>
            <a:ext cx="30403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position: static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 /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relative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27239"/>
            <a:ext cx="28956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static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 alapértelmezett. A dokumentum "folyamában" (flow) marad az elem. 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relative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szintén ott marad, de onnan eltolható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top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left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értékekkel, anélkül, hogy más elemeket zavarna.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292238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position: absolute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331964"/>
            <a:ext cx="2895600" cy="21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Kiveszi az elemet a normál folyamból (nem foglal helyet mások elől). A legközelebbi "relatívan" pozicionált szülő elemhez képest lehet pontosan elhelyezni (pl. egy képen lévő vízjel). Ekkor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z-index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határozza meg a rétegrendet.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2922389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position: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331964"/>
            <a:ext cx="2895600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Szintén kiveszi a normál folyamból, de a pozíciója mindig 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böngésző ablakhoz (viewport)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képest rögzül. Görgetéskor is a helyén marad. Tipikus példa: a rögzített felső navigációs menük, vagy a "Vissza a tetejére" gomb.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303264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303264"/>
            <a:ext cx="4286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303264"/>
            <a:ext cx="2857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Elemek Pozicionálása CSS-ben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82266"/>
            <a:ext cx="5324475" cy="3400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87016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Flexbox (Flexible Box Layout) arra született, hogy elemeket egyszerűen és rugalmasan helyezzünk el egyetlen sorban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vagy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oszlopban.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3052762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display: flex;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 szülő (konténer) elemen aktiválja. Innentől a gyerekei "flex item"-ek lesznek (egymás mellé kerülnek).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989933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justify-content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A fő tengely (alapból vízszintes) menti igazítás. Értékei pl: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center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space-between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flex-end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652813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align-items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A kereszt tengely (függőleges) menti igazítás. Pl: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center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(tökéletes függőleges középre igazítás!).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5315694"/>
            <a:ext cx="5086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gap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Egyszerű térköz beállítás az elemek között.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391816"/>
            <a:ext cx="1885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HTML: 1 2 */ 1 2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606129"/>
            <a:ext cx="771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.kontener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7975" y="2820441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0" y="2820441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flex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7975" y="3034754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flex-direction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9575" y="3034754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034754"/>
            <a:ext cx="14573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vagy column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463379"/>
            <a:ext cx="3000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Elemek elosztása vízszintesen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3677691"/>
            <a:ext cx="1285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justify-content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5300" y="3677691"/>
            <a:ext cx="1114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space-between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4106316"/>
            <a:ext cx="3686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Elemek középre igazítása függőlegesen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4320629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align-items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320629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7975" y="4749254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20 pixel távolság az elemek között */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7975" y="4963566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963566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20px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307181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4008983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025" y="4671863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25" y="5334744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Modern Elrendezés 1: A Flexbox (Egydimenziós)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50293"/>
            <a:ext cx="5324475" cy="31861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255043"/>
            <a:ext cx="53244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Míg a Flexbox egy irányba rendez, 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CSS Grid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hálózatot (rácsot) hoz létre. Kétdimenziós: sorokat és oszlopokat definiálhatunk egyszerre, így tökéletes komplett weblap struktúrák (pl. sidebar + tartalom) kialakításához.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3495079"/>
            <a:ext cx="5086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szülő konténeren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display: grid;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aktiválja.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883669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grid-template-columns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Definiálja az oszlopok számát és szélességét.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546550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Az "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fr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" (fraction - tört) egy új mértékegység, amely a rendelkezésre álló szabad helyet osztja el arányosan.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repeat(3, 1fr)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három egyforma oszlopot jelent.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559843"/>
            <a:ext cx="23145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Grid rács létrehozása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774156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.halo-kontener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7975" y="2988468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display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0" y="2988468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417093"/>
            <a:ext cx="4371975" cy="404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Két oszlop: az első pontosan 250px (pl. menü),</a:t>
            </a:r>
            <a:r>
              <a:t>
</a:t>
            </a:r>
            <a:r>
              <a:rPr b="0" sz="1125" i="1" u="none">
                <a:solidFill>
                  <a:srgbClr val="6E7781"/>
                </a:solidFill>
                <a:latin typeface="Fira Code"/>
              </a:rPr>
              <a:t>      a második elfoglalja a maradék helyet (1fr) */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7975" y="3845718"/>
            <a:ext cx="1800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grid-template-columns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9650" y="3845718"/>
            <a:ext cx="771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250px 1fr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4274343"/>
            <a:ext cx="4457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Ha 3 sorra van szükségünk, pl. 100px magasakra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4488656"/>
            <a:ext cx="1543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grid-template-rows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2475" y="4488656"/>
            <a:ext cx="14573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100px 100px 100px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4917281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917281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15px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3514129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3902719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45656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Modern Elrendezés 2: A CSS Grid (Kétdimenziós)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375570"/>
            <a:ext cx="5276850" cy="2543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5540692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Reszponzív Webdizájn és Media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695450"/>
            <a:ext cx="52768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000250"/>
            <a:ext cx="55406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Alkalmazkodás minden kijelzőhöz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409825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reszponzív weblap felismeri a kijelző méretét (telefon, tablet, asztali gép), és ahhoz igazítja az elrendezést. Ennek alapeszköze a CSS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Media Query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@media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szabály).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6061620"/>
            <a:ext cx="5276850" cy="796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Mindig relatív mértékegységeket érdemes használni az abszolút (px) helyett: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%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(százalék),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vw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(viewport width) és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rem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 betűméretekhez.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585120"/>
            <a:ext cx="4714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Alapértelmezett asztali nézet (pl. 3 oszlop Grid) */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799433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.dobozok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025" y="3799433"/>
            <a:ext cx="1800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grid-template-columns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700" y="3799433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repeat(3, 1fr)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4228058"/>
            <a:ext cx="4629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Media Query: Ha a képernyő keskenyebb mint 768px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4442370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@media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6850" y="4442370"/>
            <a:ext cx="771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max-width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9825" y="4442370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768px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656683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.dobozok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" y="4870995"/>
            <a:ext cx="3600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Telefonon alakuljon át 1 oszlopossá!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5085308"/>
            <a:ext cx="1800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grid-template-columns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5625" y="5085308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1fr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85057"/>
            <a:ext cx="5324475" cy="40213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85057"/>
            <a:ext cx="5324475" cy="40213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77567"/>
            <a:ext cx="4638675" cy="1685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227957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Interakciók: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:hover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 és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:focus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637532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pszeudo-osztályok egy elem speciális állapotára vonatkoznak.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:hover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akkor lép életbe, ha az egeret az elem (pl. gomb, kártya) fölé húzzuk.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:focus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akkor, ha belekattintunk (pl. egy input mezőbe).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77567"/>
            <a:ext cx="46386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Ezekkel adunk azonnali vizuális visszajelzést a felhasználónak.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27957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Sima Animációk: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37532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Ha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:hover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hatására megváltozik a szín, az alapértelmezetten azonnal, "durván" történik.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transition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tulajdonsággal sima, időzített átmenetet hozhatunk létre.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4087117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.gomb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875" y="4301430"/>
            <a:ext cx="1371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background-color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3925" y="4301430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875" y="4515742"/>
            <a:ext cx="3514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Mit, mennyi ideig, hogyan animáljon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75" y="473005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9575" y="4730055"/>
            <a:ext cx="28289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background-color 0.3s ease-in-out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9425" y="5158680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16329"/>
                </a:solidFill>
                <a:latin typeface="Fira Code"/>
              </a:rPr>
              <a:t>.gomb:hover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9575" y="5158680"/>
            <a:ext cx="1371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background-color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2625" y="5158680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CSS Átmenetek és Pszeudo-Osztályok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15765" y="2430809"/>
            <a:ext cx="376047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2563EB"/>
                </a:solidFill>
                <a:latin typeface="Inter"/>
              </a:rPr>
              <a:t>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625" y="3545234"/>
            <a:ext cx="142875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33800" y="3888134"/>
            <a:ext cx="47244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Inter"/>
              </a:rPr>
              <a:t>A Weboldalak Logikája és Interaktivitása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0769"/>
            <a:ext cx="5324475" cy="4049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70769"/>
            <a:ext cx="5324475" cy="4049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213669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Az "Agy" a böngészőben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623244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Míg a HTML a váz, a CSS a ruha, 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JavaScript (JS)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 izomzat és a központi idegrendszer. Ez egy teljes értékű programozási nyelv, amely a kliens oldalon (a felhasználó böngészőjében) fut.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63280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Lehetővé teszi komplex funkciók, dinamikus frissítések megvalósítását, anélkül, hogy a teljes weboldalt újra kellene tölteni.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13669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Mit csinálhatunk vele?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23244"/>
            <a:ext cx="46386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JS segítségével a statikus weblapok webes alkalmazásokká (Web Apps) válnak.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525" y="3314700"/>
            <a:ext cx="4400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Űrlap adatok ellenőrzése mielőtt elküldenénk a szerverre.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525" y="3977580"/>
            <a:ext cx="4400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Elemek, szövegek, stílusok menet közbeni módosítása a kattintások hatására (DOM manipuláció).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4914751"/>
            <a:ext cx="4400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Adatok lekérése háttérszerverről (pl. API hívásokkal egy időjárás widgethez).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33375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99663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933801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Mi az a JavaScript és mire jó?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59322"/>
            <a:ext cx="3486150" cy="38726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959322"/>
            <a:ext cx="3486150" cy="38726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959322"/>
            <a:ext cx="3486150" cy="38726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911822"/>
            <a:ext cx="30403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JS Beágyazása a HTML-be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16672"/>
            <a:ext cx="28956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kódot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&lt;/div&gt;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tag közé írhatjuk, de a profi megoldás a külső fájl használata. Javasolt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legvégén csatolni, vagy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defer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attribútumot használni, hogy a HTML előbb teljesen betöltsön.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2911822"/>
            <a:ext cx="30403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 Böngésző Konzolja (Console)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616672"/>
            <a:ext cx="28956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Minden böngésző (pl. Chrome) rendelkezik Fejlesztői Eszközökkel (F12). A "Console" fülön láthatjuk a hibaüzeneteket, és azonnal futtathatunk JS kódokat tesztelés céljából.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2911822"/>
            <a:ext cx="304038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Debugging: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console.log()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616672"/>
            <a:ext cx="28956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fejlesztők legfontosabb "hiba-kereső" (debug) eszköze. A kódba beszúrva kiíratja a konzolra az aktuális értékeket vagy szövegeket, segítve a kód működésének megértését.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5262413"/>
            <a:ext cx="28956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console.log("A gomb működik!");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292697"/>
            <a:ext cx="4762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292697"/>
            <a:ext cx="42862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292697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Beágyazás és Fejlesztői Eszközök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21668"/>
            <a:ext cx="5324475" cy="4043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826418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változók az adatok tárolására szolgáló "dobozok". A modern JavaScript-ben (ES6+) már nem a régi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var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szót használjuk!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117925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Alapvető adattípusok: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Number (szám), String (szöveg), Boolean (logikai igaz/hamis), Array (tömb, adatok listája), Object (objektum, kulcs-érték párok).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2517874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let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Olyan változó, amelynek az értéke a későbbiekben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megváltoztatható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(felülírható).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180754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const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Konstans (állandó). Az értékét deklaráláskor meg kell adni, és később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nem lehet felülírni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 Célzottan védi az adatainkat a véletlen módosítástól.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131218"/>
            <a:ext cx="1371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Változó (let)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345531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9425" y="2345531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pontszam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45531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559843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pontszam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0" y="2559843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59843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Ez érvényes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988468"/>
            <a:ext cx="3171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Konstans (const) - a leggyakoribb!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202781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875" y="3202781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felhasznaloNev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02781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"Tanulo123"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631406"/>
            <a:ext cx="3086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Array (Tömb) - több elem tárolása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845718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3845718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szinek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8125" y="3845718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"piros"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9650" y="3845718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"zöld"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5450" y="3845718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"kék"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4060031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console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2325" y="4060031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5225" y="4060031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szinek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5300" y="406003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3925" y="4060031"/>
            <a:ext cx="1543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Kiírja: "piros"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525" y="4488656"/>
            <a:ext cx="3171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Object (Objektum) - összetett adat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6525" y="4702968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0875" y="4702968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diak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7975" y="4917281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nev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917281"/>
            <a:ext cx="1200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"Kovács Péter"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7975" y="5131593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eletkor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0" y="5131593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7975" y="5345906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aktiv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8050" y="5345906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025" y="2536924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025" y="3199804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Változók Deklarálása és Adattípusok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618357"/>
            <a:ext cx="73533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programok intelligenciáját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if...else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feltételrendszerek és az operátorok biztosítják.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2083147"/>
            <a:ext cx="11029950" cy="408979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083147"/>
          <a:ext cx="11020424" cy="4089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46585"/>
                <a:gridCol w="3511897"/>
                <a:gridCol w="5061942"/>
              </a:tblGrid>
              <a:tr h="6816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Operátor / Kód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Jelentés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JavaScript Példa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8163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===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és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!==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Szigorú egyenlőség / nem egyenlő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if (kor === 18) { ... }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(A típust is vizsálja!)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163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&gt;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,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&lt;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,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&gt;=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Kisebb, nagyobb relációk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if (pont &gt;= 50) { console.log("Átment"); 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163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&amp;&amp;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(És)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Mindkét feltételnek igaznak kell lennie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if (vanJegy &amp;&amp; vanIgatolvany) { ... 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163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||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 (Vagy)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Legalább az egyik feltétel igaz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if (szombat || vasarnap) { console.log("Hétvége"); 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163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if ... else if ... else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Komplex feltételes elágazás szerkezete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if (x &gt; 0) { ... } else if (x &lt; 0) { ... } else { ... 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5787" y="2667000"/>
            <a:ext cx="2446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32373" y="2667000"/>
            <a:ext cx="35118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44270" y="2667000"/>
            <a:ext cx="50619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787" y="3255615"/>
            <a:ext cx="2446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32373" y="3255615"/>
            <a:ext cx="35118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4270" y="3255615"/>
            <a:ext cx="50619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787" y="3844230"/>
            <a:ext cx="2446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32373" y="3844230"/>
            <a:ext cx="35118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4270" y="3844230"/>
            <a:ext cx="50619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787" y="4707135"/>
            <a:ext cx="2446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32373" y="4707135"/>
            <a:ext cx="35118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44270" y="4707135"/>
            <a:ext cx="50619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787" y="5295751"/>
            <a:ext cx="24465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32373" y="5295751"/>
            <a:ext cx="35118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44270" y="5295751"/>
            <a:ext cx="50619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Feltételvizsgálat és Operátorok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33786"/>
            <a:ext cx="5324475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338536"/>
            <a:ext cx="53244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programozás egyik alapszabálya 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DRY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(Don't Repeat Yourself - Ne ismételd önmagad). Ha egy műveletet sokszor kell végrehajtani (pl. végigmenni egy lista elemein), ciklusokat használunk.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3578572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for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 ciklus: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Akkor használjuk, ha pontosan tudjuk, hányszor akarjuk lefuttatni a kódot. Részei: kezdőérték (index), futási feltétel, növelés.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4515742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for...of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 ciklus: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Kifejezetten tömbök (Array) bejárására alkották meg. Sokkal tisztább és olvashatóbb szintaxis a hagyományos for ciklusnál.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2643336"/>
            <a:ext cx="3257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Hagyományos 'for' ciklus 1-től 5-ig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857648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5150" y="2857648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8050" y="2857648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950" y="2857648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8125" y="2857648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0" y="2857648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3925" y="2857648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3071961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3775" y="3071961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6675" y="3071961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"Szám: 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9650" y="307196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714898"/>
            <a:ext cx="3171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Tömb bejárása 'for...of' ciklussal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929211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3929211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nevek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29211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"Anna"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929211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"Béla"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929211"/>
            <a:ext cx="771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"Cecília"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4357836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5150" y="4357836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0" y="4357836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nev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57836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9575" y="4357836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nevek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7975" y="4572148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3775" y="4572148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6675" y="4572148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"Szia 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3925" y="4572148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nev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8275" y="4572148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"!"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6525" y="5000773"/>
            <a:ext cx="3514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/* Eredmény: Szia Anna! Szia Béla! ... */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359762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025" y="4534792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Ciklusok (Iterációk) használata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30263"/>
            <a:ext cx="5324475" cy="45309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30263"/>
            <a:ext cx="5324475" cy="45309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897064"/>
            <a:ext cx="4638675" cy="1685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918049"/>
            <a:ext cx="4638675" cy="1900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1973163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Mi az a Függvény?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382738"/>
            <a:ext cx="4638675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függvény egy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újra felhasználható kódblokk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amely egy adott feladatot hajt végre. Olyan, mint egy recept: megkapja a hozzávalókat (paraméterek), elvégzi a műveletet, majd kiadja a kész ételt (visszatérési érték: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return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73163"/>
            <a:ext cx="4870608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Modern: Arrow Functions (Nyílfüggvény)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78013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Az ES6 szabvánnyal érkezett rövidebb és modernebb írásmód, amely a professzionális kódbázisok (pl. React) alapja. A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function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szó helyett egy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=&gt;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(kövér nyíl) szimbólumot használunk.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106614"/>
            <a:ext cx="3000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Hagyományos függvény definiálása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320926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5475" y="4320926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osszead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1275" y="432092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8450" y="432092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535239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5475" y="4535239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8375" y="4535239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" y="4963864"/>
            <a:ext cx="2914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Függvény meghívása (használata)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5178176"/>
            <a:ext cx="257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50" y="5178176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eredmeny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9825" y="5178176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osszead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5625" y="5178176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525" y="517817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550AE"/>
                </a:solidFill>
                <a:latin typeface="Fira Cod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1425" y="5178176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=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9425" y="4127599"/>
            <a:ext cx="3600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Ugyanaz a függvény, mint Arrow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9425" y="4341911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3775" y="4341911"/>
            <a:ext cx="942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osszeadNyil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9650" y="434191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6825" y="434191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341911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=&gt;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0875" y="4556224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0950" y="4556224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3850" y="4556224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9425" y="5199161"/>
            <a:ext cx="3857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6E7781"/>
                </a:solidFill>
                <a:latin typeface="Fira Code"/>
              </a:rPr>
              <a:t>// Még rövidebb (ha csak 1 sor a visszatérés)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9425" y="5413474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3775" y="5413474"/>
            <a:ext cx="1028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gyorsOsszead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5375" y="5413474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2550" y="5413474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9725" y="5413474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=&gt;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6900" y="5413474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5413474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Függvények (Functions) Alkotása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52600"/>
            <a:ext cx="532447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752600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DOM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 a fastruktúra (fa-modell), amivé a böngésző alakítja a HTML kódodat. A JS ezt a fát tudja olvasni és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módosítani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444055"/>
            <a:ext cx="53244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Hogyan érjünk el (markoljunk meg) egy HTML elemet JS-ből?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461271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Ha megvan az elem, a JS-el módosíthatjuk a szövegét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element.textContent = "Új Szöveg"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), vagy a CSS stílusát (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element.style.color = "red"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861220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document.getElementById("azonosito")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Gyors kiválasztás ID alapján.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524101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document.querySelector(".osztaly")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: A legkorszerűbb módszer. Ugyanazt a szintaxist használja a kijelölésre, mint a CSS. Megtalálja az első megfelelő elemet.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57375"/>
            <a:ext cx="5114925" cy="407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88027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543151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A DOM (Document Object Model) Kezelése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38275"/>
            <a:ext cx="3226444" cy="49147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219" y="1438275"/>
            <a:ext cx="3371850" cy="49147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819" y="1438275"/>
            <a:ext cx="3860155" cy="49147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494" y="4562326"/>
            <a:ext cx="2781300" cy="1495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390775"/>
            <a:ext cx="2767689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Az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addEventListener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095625"/>
            <a:ext cx="2635894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weboldal "figyeli", mit csinál a felhasználó (kattint, gépel). Az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addEventListener()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metódussal rákapcsolhatunk egy HTML elemre egy "fület", ami figyel egy konkrét eseményt (pl.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'click'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8494" y="2390775"/>
            <a:ext cx="292036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Eseménykezelő Kód (Callback)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8494" y="3095625"/>
            <a:ext cx="27813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Amikor az esemény megtörténik, lefut egy függvény (callback function). Ilyenkor módosítjuk a DOM-ot, kiírunk valamit, vagy elküldjük az adatokat.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94" y="2390775"/>
            <a:ext cx="343308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event.preventDefault()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094" y="2800350"/>
            <a:ext cx="3269605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Gyakori probléma az űrlapok (form-ok) küldésénél, hogy a böngésző újratölti a weblapot. Ezt az alapértelmezett viselkedést a függvénynek átadott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event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(esemény) objektum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preventDefault()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metódusával blokkoljuk le JS-ből.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771650"/>
            <a:ext cx="33337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8494" y="1771650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93269" y="4676626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const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7619" y="4676626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gomb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3269" y="4890938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4794" y="4890938"/>
            <a:ext cx="1114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querySelector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944" y="4890938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"#ok"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3269" y="5105251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4292F"/>
                </a:solidFill>
                <a:latin typeface="Fira Code"/>
              </a:rPr>
              <a:t>gomb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1894" y="5105251"/>
            <a:ext cx="1371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addEventListener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219" y="5105251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"click"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0444" y="5319563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F222E"/>
                </a:solidFill>
                <a:latin typeface="Fira Code"/>
              </a:rPr>
              <a:t>=&gt;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4719" y="5533876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8250DF"/>
                </a:solidFill>
                <a:latin typeface="Fira Code"/>
              </a:rPr>
              <a:t>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069" y="5533876"/>
            <a:ext cx="1628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A3069"/>
                </a:solidFill>
                <a:latin typeface="Fira Code"/>
              </a:rPr>
              <a:t>"Rám kattintottál!"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094" y="1771650"/>
            <a:ext cx="381000" cy="381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Eseménykezelés: Tedd Interaktívvá! (Events)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1939379"/>
            <a:ext cx="11581447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2563EB"/>
                </a:solidFill>
                <a:latin typeface="Inter"/>
              </a:rPr>
              <a:t>Készen állsz a kódolásra!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101429"/>
            <a:ext cx="11029950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Inter"/>
              </a:rPr>
              <a:t>A webfejlesztés szentháromsága a te kezedben van:</a:t>
            </a:r>
            <a:r>
              <a:t>
</a:t>
            </a:r>
            <a:r>
              <a:rPr b="0" sz="1950" i="0" u="none">
                <a:solidFill>
                  <a:srgbClr val="475569"/>
                </a:solidFill>
                <a:latin typeface="Inter"/>
              </a:rPr>
              <a:t> A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HTML</a:t>
            </a:r>
            <a:r>
              <a:rPr b="0" sz="1950" i="0" u="none">
                <a:solidFill>
                  <a:srgbClr val="475569"/>
                </a:solidFill>
                <a:latin typeface="Inter"/>
              </a:rPr>
              <a:t> az épület szerkezete, a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CSS</a:t>
            </a:r>
            <a:r>
              <a:rPr b="0" sz="1950" i="0" u="none">
                <a:solidFill>
                  <a:srgbClr val="475569"/>
                </a:solidFill>
                <a:latin typeface="Inter"/>
              </a:rPr>
              <a:t> a belsőépítészet és a festés, a </a:t>
            </a:r>
            <a:r>
              <a:rPr b="1" sz="1950" i="0" u="none">
                <a:solidFill>
                  <a:srgbClr val="0F172A"/>
                </a:solidFill>
                <a:latin typeface="Inter"/>
              </a:rPr>
              <a:t>JavaScript</a:t>
            </a:r>
            <a:r>
              <a:rPr b="0" sz="1950" i="0" u="none">
                <a:solidFill>
                  <a:srgbClr val="475569"/>
                </a:solidFill>
                <a:latin typeface="Inter"/>
              </a:rPr>
              <a:t> pedig a villamoshálózat és a gépészet.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670970"/>
            <a:ext cx="110299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Fira Code"/>
              </a:rPr>
              <a:t>Informatikai Szakmák • Webfejlesztési Modul • Technikum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938486"/>
            <a:ext cx="91821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723257"/>
            <a:ext cx="91821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508027"/>
            <a:ext cx="91821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4292798"/>
            <a:ext cx="91821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025" y="1957536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2713732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713732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025" y="2742307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3498502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498502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025" y="3527077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4283273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4283273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025" y="4311848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5068044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025" y="5068044"/>
            <a:ext cx="91821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025" y="5096619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563EB"/>
                </a:solidFill>
                <a:latin typeface="Inter"/>
              </a:rPr>
              <a:t>▹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087909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14525" y="2081361"/>
            <a:ext cx="78486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https://as2.ftcdn.net/v2/jpg/17/68/03/05/1000_F_1768030568_ul6qFhFaJH4ev0UvVrMmAD0CecHw0rOD.jpg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4525" y="2327076"/>
            <a:ext cx="78486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www.europosters.dk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872680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914525" y="2866132"/>
            <a:ext cx="78486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https://img.magnific.com/free-vector/flat-design-web-designer-instagram-posts_23-2150334194.jpg?semt=ais_hybrid&amp;w=740&amp;q=80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4525" y="3111847"/>
            <a:ext cx="78486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657451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14525" y="3650902"/>
            <a:ext cx="78486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https://www.scaler.com/topics/images/box-model-of-CSS.webp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14525" y="3896617"/>
            <a:ext cx="78486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www.scaler.com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4442221"/>
            <a:ext cx="857250" cy="476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914525" y="4435673"/>
            <a:ext cx="78486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https://goodmockups.com/wp-content/uploads/2026/01/Free-Multi-Device-Responsive-Web-Design-Mockup-PSD.jpg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14525" y="4681388"/>
            <a:ext cx="78486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goodmockups.com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5226992"/>
            <a:ext cx="857250" cy="476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14525" y="5220444"/>
            <a:ext cx="78486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https://media.geeksforgeeks.org/wp-content/uploads/20260123110644215426/application_program-1.webp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4525" y="5466159"/>
            <a:ext cx="78486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www.geeksforgeeks.org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563EB"/>
                </a:solidFill>
                <a:latin typeface="Inter"/>
              </a:rPr>
              <a:t>Image Sources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