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5277" y="2570857"/>
            <a:ext cx="11561445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b="0" sz="5250" i="0" u="none">
                <a:solidFill>
                  <a:srgbClr val="1E3A8A"/>
                </a:solidFill>
                <a:latin typeface="Roboto Black"/>
              </a:rPr>
              <a:t>JavaScript Mesterkurzus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1625" y="3494782"/>
            <a:ext cx="904875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475569"/>
                </a:solidFill>
                <a:latin typeface="Roboto Medium"/>
              </a:rPr>
              <a:t>Mélyvíz technikumos diákoknak: A DOM manipuláció, az Eseménykezelés (Events), az AJAX és az Aszinkron programozás titkai.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171700"/>
            <a:ext cx="5267325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71700"/>
            <a:ext cx="5267325" cy="3533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2514600"/>
            <a:ext cx="481060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Több, mint egy szkriptnyelv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2943225"/>
            <a:ext cx="45815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JavaScript (JS) eredetileg arra született, hogy a weboldalakat interaktívvá tegye (pl. legördülő menük). Mára azonban egy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teljes értékű, aszinkron, objektum-orientált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nyelvvé nőtte ki magát.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4305300"/>
            <a:ext cx="45815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V8 (Chrome) vagy SpiderMonkey (Firefox) motorok másodpercenként több millió műveletet képesek elvégezni a felhasználó gépén.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514600"/>
            <a:ext cx="481060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A Kliensoldal "Agya"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2943225"/>
            <a:ext cx="45815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szerver csak a nyers HTML/CSS-t küldi le. Minden más - az adatok betöltése kattintásra, az űrlapok ellenőrzése, az animációk matekja - a kliens (a böngésző) memóriájában, JavaScripttel történik.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4305300"/>
            <a:ext cx="45815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Célunk: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Nem csak a nyelvtant, hanem a böngésző API-k (DOM, Fetch) mélyebb működését is megérteni.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 JavaScript a Modern Weben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85987"/>
            <a:ext cx="5267325" cy="3600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209073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Felejtsd el a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var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kulcsszót! A modern (ES6+) JS a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let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és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const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használatát követeli meg, mert ezek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Blokk Szintű (Block Scope)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hatókörrel rendelkeznek.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148012"/>
            <a:ext cx="498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Global Scope: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Bárhonnan elérhető (kerülendő, memóriaszivárgást okozhat).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890962"/>
            <a:ext cx="4981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Function Scope: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Csak a függvényen belül él.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329112"/>
            <a:ext cx="49815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Block Scope: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Csak az adott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{}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(kapcsos zárójel) blokkon belül él (pl. egy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if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ágban). Ez véd a véletlen felülírásoktól.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395537"/>
            <a:ext cx="3810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A 'var' problémája: kilóg a blokkból!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6241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5150" y="26241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28527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5650" y="28527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regi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52737"/>
            <a:ext cx="1143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"Kiszivárog"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0813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5650" y="30813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1900" y="3081337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"Biztonságos"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35385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150" y="35385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7150" y="35385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regi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538537"/>
            <a:ext cx="2286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Lefut! (Hiba forrása)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3767137"/>
            <a:ext cx="4572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console.log(uj); // ReferenceError: uj is not defined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4452937"/>
            <a:ext cx="4762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Best Practice: Mindig const, kivéve ha biztosan változik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49101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5650" y="49101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apiKulcs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400" y="4910137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"12345ABC"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4150" y="51387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150" y="51387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szamlalo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2900" y="5138737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4150" y="53673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szamlalo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Haladó Alapok: Hatókörök (Scope)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167062"/>
            <a:ext cx="95250" cy="2000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910012"/>
            <a:ext cx="95250" cy="2000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4348162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71687"/>
            <a:ext cx="5267325" cy="3829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97643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Az Arrow Function (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=&gt;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) nem csak rövidebb sütemény (syntactic sugar). A legfontosabb különbség a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Lexikális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this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kötés.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3033712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hagyományos függvényeknél a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this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értéke attól függ,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hogyan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hívták meg a függvényt. A nyílfüggvények nem hoznak létre saját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this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kontextust, hanem "öröklik" a szülőét.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409098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Ez elengedhetetlen, amikor eseménykezelőkön (Event Listener) vagy aszinkron hívásokon (pl.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setTimeout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) belül dolgozunk objektumokkal.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2812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5650" y="2281237"/>
            <a:ext cx="1143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gombObjektum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5098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cimke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0" y="2509837"/>
            <a:ext cx="1047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"Kattints!"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27384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150" y="27384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2967037"/>
            <a:ext cx="4476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HAGYOMÁNYOS: A 'this' itt a window lenne (vagy undefined) híváskor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424237"/>
            <a:ext cx="3238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setTimeout(function() { console.log(this.cimke); }, 1000);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4110037"/>
            <a:ext cx="4667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NYÍLFÜGGVÉNY: Megtartja az objektum 'this' kontextusát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4567237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setTimeout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650" y="45672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=&gt;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5650" y="47958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7650" y="47958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8650" y="47958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this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4900" y="47958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cimke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4795837"/>
            <a:ext cx="1047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Működik!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900" y="50244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1000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Nyílfüggvények és a "this" Rejtélye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019300"/>
            <a:ext cx="3479750" cy="383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050" y="2019300"/>
            <a:ext cx="3479750" cy="3838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550" y="2019300"/>
            <a:ext cx="3479750" cy="3838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3057525"/>
            <a:ext cx="303366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filter()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86150"/>
            <a:ext cx="2889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Végigmegy a tömbön, és egy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új tömböt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ad vissza csak azokkal az elemekkel, amelyekre a feltétel (nyílfüggvény) igaz.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1325" y="3057525"/>
            <a:ext cx="303366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map()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1325" y="3486150"/>
            <a:ext cx="288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Átalakítja az adatokat. Minden elemen végrehajt egy műveletet, és visszatér egy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ugyanolyan hosszú, új tömbbel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(pl. számok duplázása, vagy HTML stringek generálása).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6825" y="3057525"/>
            <a:ext cx="303366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reduce()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6825" y="3486150"/>
            <a:ext cx="2889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legbonyolultabb: a tömb összes elemét egyetlen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egy értékké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(pl. összeg, vagy egyetlen objektum) "zsugorítja" össze egy akkumulátor segítségével.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343150"/>
            <a:ext cx="428625" cy="428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1325" y="2343150"/>
            <a:ext cx="485775" cy="428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6825" y="2343150"/>
            <a:ext cx="428625" cy="4286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Modern Tömbműveletek (Adatelemzés)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43087"/>
            <a:ext cx="526732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747837"/>
            <a:ext cx="52673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Amikor szerverről adatokat (API/JSON) kérünk le, általában hatalmas objektumokat kapunk. Ahelyett, hogy minden változóhoz kiírnánk a hosszú útvonalat (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adat.user.profile.name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), a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Destructuring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segítségével elegánsan "kibonthatjuk" azokat.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414712"/>
            <a:ext cx="4981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Gyorsabb kódírás, tisztább szintaxis.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852862"/>
            <a:ext cx="498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Alapértelmezett értékeket is megadhatunk, ha az adat esetleg hiányzik.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595812"/>
            <a:ext cx="498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Nagyon gyakori a React.js és más modern keretrendszerek használatakor.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0526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5650" y="20526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diak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2812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nev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0" y="2281237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"Kovács Anna"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25098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kor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0" y="25098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27384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szak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2738437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"Szoftverfejlesztő"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29670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jegyek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7150" y="29670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matek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2967037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9650" y="29670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prog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1150" y="2967037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3652837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RÉGI MÓDSZER: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3881437"/>
            <a:ext cx="2286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const nev = diak.nev;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4110037"/>
            <a:ext cx="3333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const matek = diak.jegyek.matek;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4567237"/>
            <a:ext cx="2286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MODERN DESTRUCTURING: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4150" y="47958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150" y="47958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nev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7958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szak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9650" y="47958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diak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4150" y="50244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150" y="50244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matek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8650" y="50244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diak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4900" y="50244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jegyek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4150" y="54816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6150" y="54816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4150" y="5481637"/>
            <a:ext cx="4667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`${nev} szakja: ${szak}, matek jegye: ${matek}`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Objektumok és Destructuring (Kibontás)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433762"/>
            <a:ext cx="95250" cy="2000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871912"/>
            <a:ext cx="95250" cy="2000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4614862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52587"/>
            <a:ext cx="526732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652587"/>
            <a:ext cx="52673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DOM (Document Object Model)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egy programozási felület (API) a weblapokhoz. Nem maga a HTML fájl, hanem az a memóriában lévő, élő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Fa Struktúra (Tree)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, amivé a böngésző értelmezi a HTML-t.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014662"/>
            <a:ext cx="498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Minden HTML tag egy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Csomópont (Node / Element)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a fában.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57612"/>
            <a:ext cx="4981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JavaScript ezen az API-n keresztül tudja: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757362"/>
            <a:ext cx="5057775" cy="4362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4195762"/>
            <a:ext cx="4981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Olvasni az oldal tartalmát.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633912"/>
            <a:ext cx="4981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Megváltoztatni a CSS stílusokat menet közben.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5072062"/>
            <a:ext cx="4981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Új elemeket hozzáadni vagy törölni.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Mi is pontosan a DOM?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3033712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3776662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4214812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4652962"/>
            <a:ext cx="952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5091112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0550" y="1798439"/>
            <a:ext cx="11010900" cy="428029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1798439"/>
          <a:ext cx="11001373" cy="4280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871912"/>
                <a:gridCol w="2145059"/>
                <a:gridCol w="4984402"/>
              </a:tblGrid>
              <a:tr h="856059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Roboto"/>
                        </a:rPr>
                        <a:t>Parancs / Metódus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Roboto"/>
                        </a:rPr>
                        <a:t>Mit ad vissza?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Roboto"/>
                        </a:rPr>
                        <a:t>Mikor használjuk?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56059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document.getElementById("logo")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Egyetlen Element (Object)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Ha biztosak vagyunk benne, hogy egyedi ID-t keresünk. (Nagyon gyors).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6059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document.querySelector(".kartyák")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Egyetlen Element (Az </a:t>
                      </a:r>
                      <a:r>
                        <a:rPr b="1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elsőt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A legkorszerűbb! Bármilyen bonyolult CSS szelektort beírhatunk (pl. 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ul &gt; li.aktiv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6059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document.querySelectorAll(".gomb")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NodeList (Olyan, mint egy tömb)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Ha az </a:t>
                      </a:r>
                      <a:r>
                        <a:rPr b="1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összes</a:t>
                      </a:r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 egyező elemet meg akarjuk találni. Ciklussal (forEach) kell bejárni!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606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elem.parentElement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Egyetlen Element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Amikor egy elem szülőjéhez (befoglaló dobozához) akarunk feljebb lépni a fában (Traversing).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5312" y="2446139"/>
            <a:ext cx="387191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67225" y="2446139"/>
            <a:ext cx="214505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12284" y="2446139"/>
            <a:ext cx="498440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5312" y="3361432"/>
            <a:ext cx="3871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7225" y="3361432"/>
            <a:ext cx="2145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12284" y="3361432"/>
            <a:ext cx="4984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5312" y="4262437"/>
            <a:ext cx="3871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7225" y="4262437"/>
            <a:ext cx="2145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12284" y="4262437"/>
            <a:ext cx="4984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5312" y="5163442"/>
            <a:ext cx="3871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7225" y="5163442"/>
            <a:ext cx="2145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12284" y="5163442"/>
            <a:ext cx="4984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Keresés a DOM-ban (Kijelölők)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24087"/>
            <a:ext cx="5267325" cy="3371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212883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Ha JS-ből akarunk új HTML-t gyártani (pl. egy szerverről jövő hírfolyamot megjeleníteni), a böngésző memóriájában kell felépítenünk az elemet, majd "befűzni" a DOM fába.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" y="3186112"/>
            <a:ext cx="15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3186112"/>
            <a:ext cx="5267325" cy="6096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91C1C"/>
                </a:solidFill>
                <a:latin typeface="Roboto"/>
              </a:rPr>
              <a:t>createElement(tag)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: Létrehoz egy üres HTML elemet a memóriában.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" y="3938587"/>
            <a:ext cx="15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3938587"/>
            <a:ext cx="5267325" cy="6096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Tulajdonságok megadása: Szöveg (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textContent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), osztályok (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classList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) beállítása.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0" y="4691062"/>
            <a:ext cx="15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4691062"/>
            <a:ext cx="5267325" cy="914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91C1C"/>
                </a:solidFill>
                <a:latin typeface="Roboto"/>
              </a:rPr>
              <a:t>appendChild(elem)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vagy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append(elem)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: Beilleszti a kész elemet egy létező szülő elem belsejébe, legutolsó gyermekként.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433637"/>
            <a:ext cx="447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1. Célpont kiválasztása (ahova beillesztünk)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26622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5650" y="26622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7650" y="26622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4900" y="2662237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querySelector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2662237"/>
            <a:ext cx="4381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"#teendo-lista"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3348037"/>
            <a:ext cx="3619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2. Új elem létrehozása a memóriában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35766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5650" y="35766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ujElem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900" y="35766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150" y="3576637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createElement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3650" y="35766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"li"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4033837"/>
            <a:ext cx="3333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3. Tartalom és stílus hozzáadása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42624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ujElem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900" y="4262437"/>
            <a:ext cx="1047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textContent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400" y="4262437"/>
            <a:ext cx="2190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"Megtanulni az AJAX-ot"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44910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ujElem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900" y="4491037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classList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3400" y="44910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add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400" y="4491037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"fontos-feladat"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4150" y="4948237"/>
            <a:ext cx="447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4. Fizikai beillesztés a weboldalra (DOM Fa)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150" y="51768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lista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5650" y="5176837"/>
            <a:ext cx="1047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appendChild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8650" y="51768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ujElem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Új elemek létrehozása és beillesztése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833562"/>
            <a:ext cx="3314700" cy="421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1833562"/>
            <a:ext cx="3810000" cy="4210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0" y="1833562"/>
            <a:ext cx="3314700" cy="4210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2871787"/>
            <a:ext cx="2860357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Attribútumok (src, href, 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14737"/>
            <a:ext cx="27241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HTML attribútumok lekérése: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elem.getAttribute('src')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224337"/>
            <a:ext cx="27241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Beállítása: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elem.setAttribute('src', 'kep2.jpg')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. Ezzel cserélhetünk le például képeket egy galériában kattintásra.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6275" y="2871787"/>
            <a:ext cx="338042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A </a:t>
            </a:r>
            <a:r>
              <a:rPr b="1" sz="2100" i="0" u="none">
                <a:solidFill>
                  <a:srgbClr val="0F172A"/>
                </a:solidFill>
                <a:latin typeface="Roboto"/>
              </a:rPr>
              <a:t>classList</a:t>
            </a:r>
            <a:r>
              <a:rPr b="1" sz="2100" i="0" u="none">
                <a:solidFill>
                  <a:srgbClr val="0F172A"/>
                </a:solidFill>
                <a:latin typeface="Roboto"/>
              </a:rPr>
              <a:t>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6275" y="3300412"/>
            <a:ext cx="32194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Soha ne az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elem.style.color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-t használd összetett stílusokhoz! Ehelyett CSS-ben írd meg az osztályt, JS-ben pedig kapcsold be/ki.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6275" y="4519612"/>
            <a:ext cx="3219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91C1C"/>
                </a:solidFill>
                <a:latin typeface="Roboto"/>
              </a:rPr>
              <a:t>elem.classList.add('aktiv')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6275" y="4824412"/>
            <a:ext cx="3219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91C1C"/>
                </a:solidFill>
                <a:latin typeface="Roboto"/>
              </a:rPr>
              <a:t>elem.classList.remove('rejtett')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2025" y="2871787"/>
            <a:ext cx="2860357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A Varázslat: </a:t>
            </a:r>
            <a:r>
              <a:rPr b="1" sz="2100" i="0" u="none">
                <a:solidFill>
                  <a:srgbClr val="0F172A"/>
                </a:solidFill>
                <a:latin typeface="Roboto"/>
              </a:rPr>
              <a:t>toggle()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2025" y="3614737"/>
            <a:ext cx="2724150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leggyakrabban használt metódus! Ha az elemen rajta van az osztály, leveszi. Ha nincs, ráteszi. Tökéletes lenyíló (hamburger) menük vagy Sötét/Világos téma kapcsolók programozásához.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157412"/>
            <a:ext cx="428625" cy="4286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275" y="2157412"/>
            <a:ext cx="428625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025" y="2157412"/>
            <a:ext cx="485775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Attribútumok és CSS Osztályok manipulálása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43087"/>
            <a:ext cx="526732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74783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weboldalak reagálnak a felhasználóra. Ezt az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addEventListener()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segítségével oldjuk meg. Szétválasztja a HTML-t (nincs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onclick="..."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a kódba égetve) és a JS-t.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805112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Az Esemény Objektum (Event Object):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Amikor a böngésző meghívja a függvényedet (Callback),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mindig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átad neki egy láthatatlan paramétert (általában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e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vagy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event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néven).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3862387"/>
            <a:ext cx="5267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Ez tartalmazza a kattintás koordinátáit, melyik gombot nyomták le, vagy űrlap esetén a beírt adatokat.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0526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5650" y="20526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2812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0" y="2281237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querySelector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4900" y="2281237"/>
            <a:ext cx="1428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"#regisztracio"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27384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2738437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addEventListener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9650" y="27384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"submit"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7400" y="27384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44150" y="27384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=&gt;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2967037"/>
            <a:ext cx="4572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1. Megakadályozzuk a weblap alapértelmezett újratöltését!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4242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150" y="3424237"/>
            <a:ext cx="1333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preventDefault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3881437"/>
            <a:ext cx="4572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2. Az event.target maga az az elem, amin az esemény történt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43386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6650" y="43386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7650" y="4338637"/>
            <a:ext cx="2286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"Űrlap elküldve innen: 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45672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5650" y="45672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5672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5024437"/>
            <a:ext cx="4476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3. Kinyerhetünk adatokat, pl. egér pozíció (kattintásnál)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4650" y="5481637"/>
            <a:ext cx="428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console.log(event.clientX, event.clientY);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Mélyvíz: Eseménykezelés (Event Listeners)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52587"/>
            <a:ext cx="526732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652587"/>
            <a:ext cx="5267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Mi történik, ha rákattintasz egy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-re, ami egy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-ben van, ami egy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-ben van?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405062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kattintás eseménye lentről felfelé "buborékol" a DOM fán. Először a gomb érzékeli, aztán a div, végül a section és a body. (Olyan, mint a víz alatt elengedett buborék).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3462337"/>
            <a:ext cx="5267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Miért fontos ez?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10012"/>
            <a:ext cx="49815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Megállíthatjuk a buborékolást az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event.stopPropagation()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paranccsal, ha nem akarjuk, hogy a szülő is reagáljon.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957762"/>
            <a:ext cx="498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Lehetővé teszi az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Event Delegation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-t (Esemény delegálást).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757362"/>
            <a:ext cx="5057775" cy="4362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Event Bubbling (Esemény Buborékolás)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3929062"/>
            <a:ext cx="952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4976812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528887"/>
            <a:ext cx="5267325" cy="2914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243363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Képzelj el egy 1000 elemes listát. Ha minden egyes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-re teszel egy Event Listenert, az rengeteg memóriát eszik, és ha új elemet adsz a listához, arra nem is fog vonatkozni!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3490912"/>
            <a:ext cx="52673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A Megoldás: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Tegyünk egyetlen Event Listenert a szülő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elemre. A Buborékolás miatt a kattintás úgyis eljut hozzá. Ezután az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event.target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segítségével megnézzük,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pontosan min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(melyik li-n) történt a kattintás.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27384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05650" y="27384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ulLista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8150" y="27384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738437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querySelector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38437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"#bevasarlo-lista"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424237"/>
            <a:ext cx="466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Egyetlen hallgató a szülőre (nagyon hatékony!)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6528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ulLista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150" y="3652837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addEventListener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6528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"click"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67900" y="3652837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53650" y="36528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=&gt;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3881437"/>
            <a:ext cx="4381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Megvizsgáljuk, hogy tényleg egy LI elemen kattintottak-e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3386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5650" y="4338637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150" y="43386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0" y="43386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tagName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900" y="43386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"LI"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4567237"/>
            <a:ext cx="95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5650" y="45672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567237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classList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4900" y="45672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toggle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1650" y="4567237"/>
            <a:ext cx="1619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"athuzott-szoveg"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Profi technika: Event Delegation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171700"/>
            <a:ext cx="5267325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71700"/>
            <a:ext cx="5267325" cy="3533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2514600"/>
            <a:ext cx="481060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Single-Threaded (Egyszálú)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2943225"/>
            <a:ext cx="45815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JavaScript egyszerre csak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egy dolgot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tud csinálni. A kód sorról sorra fut le (Call Stack). Ha egy művelet nagyon lassú (pl. 5 másodperc egy matematikai számítás), a weblap "lefagy", nem lehet kattintani. Ez a Szinkron (blokkoló) működés.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2514600"/>
            <a:ext cx="481060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Aszinkron (Nem blokkoló)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943225"/>
            <a:ext cx="45815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Hogyan kérhetünk le mégis adatot egy szerverről úgy, hogy közben az oldal használható maradjon? A megoldás a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Böngésző API-k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és az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Event Loop (Eseményhurok)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4305300"/>
            <a:ext cx="45815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lassú feladatokat a JS "kiadja" a böngészőnek, és megy tovább. Amikor a feladat kész, a böngésző visszaszól a JS-nek.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 Nagy Fal: Szinkron vs. Aszinkron működés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52587"/>
            <a:ext cx="526732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652587"/>
            <a:ext cx="5267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JavaScript motor 3 fő részből áll a futtatás során: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466248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Az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Event Loop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folyamatosan figyeli a Call Stack-et. Ha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teljesen üres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, kiveszi a Task Queue első elemét, és bedobja a Call Stack-be futtatásra.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2100262"/>
            <a:ext cx="15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100262"/>
            <a:ext cx="5267325" cy="6096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Call Stack (Hívási Verem):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Itt futnak az aktuális, szinkron függvények.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0" y="2852737"/>
            <a:ext cx="15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2852737"/>
            <a:ext cx="5267325" cy="914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Web API-k: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Ide kerülnek ki az aszinkron feladatok (pl.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setTimeout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időzítője, vagy hálózati kérések - AJAX). Itt a böngésző vár, nem a JS.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" y="3910012"/>
            <a:ext cx="15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3910012"/>
            <a:ext cx="5267325" cy="6096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Task Queue (Feladat Sor):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Ha a Web API végzett (lejárt az idő, megjött az adat), a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Callback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függvény bekerül ebbe a sorba.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757362"/>
            <a:ext cx="5057775" cy="4362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Hogyan működik az Event Loop?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81212"/>
            <a:ext cx="5267325" cy="2686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985962"/>
            <a:ext cx="5267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legalapvetőbb aszinkron Web API-k. Nem a JavaScript motorban futnak, hanem a böngésző számolja az időt.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483393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334155"/>
                </a:solidFill>
                <a:latin typeface="Roboto"/>
              </a:rPr>
              <a:t>Tipp: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Ha írsz egy 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setTimeout(fn, 0)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-t, az nem azonnal fut le! Kikerül a Task Queue-ba, és megvárja, míg a teljes szinkron kód lefut.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738437"/>
            <a:ext cx="49815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91C1C"/>
                </a:solidFill>
                <a:latin typeface="Roboto"/>
              </a:rPr>
              <a:t>setTimeout(callback, ms)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: A megadott függvényt egyszer hajtja végre, a megadott milliszekundum elteltével. (Késleltetés).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86187"/>
            <a:ext cx="49815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91C1C"/>
                </a:solidFill>
                <a:latin typeface="Roboto"/>
              </a:rPr>
              <a:t>setInterval(callback, ms)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: Folyamatosan ismétli a függvény végrehajtását a megadott időközönként. (Pl. óra, visszaszámláló).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90762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6150" y="2290762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7150" y="2290762"/>
            <a:ext cx="2095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"1. Ez fut le először"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747962"/>
            <a:ext cx="2667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Aszinkron (Web API) hívás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2976562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setTimeout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7650" y="2976562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=&gt;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205162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6650" y="3205162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3205162"/>
            <a:ext cx="4000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"3. Ez fut le utoljára (2 mp múlva)"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3662362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2000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4119562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150" y="4119562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4119562"/>
            <a:ext cx="4762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"2. Ez lefut azonnal, nem várja meg az időzítőt"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Aszinkron Alapok: Időzítők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2757487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805237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52587"/>
            <a:ext cx="526732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652587"/>
            <a:ext cx="5267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AJAX: Asynchronous JavaScript And 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100262"/>
            <a:ext cx="52673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Ez egy technika, nem egy konkrét programnyelv. Azt jelenti, hogy a JavaScript a háttérben képes a szerverhez fordulni (Request), adatokat lekérni (Response), és ezekkel az adatokkal frissíteni a weblap egy kis részét - mindezt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anélkül, hogy a teljes weboldalt újra kellene tölteni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3767137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Gondolj a Facebook hírfolyamra, ahol csak görgetsz lefelé, és újabb posztok töltődnek be az oldal frissülése nélkül. Ez az AJAX.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757362"/>
            <a:ext cx="5057775" cy="4362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Mi az az AJAX?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95525"/>
            <a:ext cx="5267325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2200275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Bár az AJAX nevében ott az "XML", ma már szinte senki nem használja azt a formátumot. A modern weben a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JSON (JavaScript Object Notation)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az adatcsere szabványa.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3257550"/>
            <a:ext cx="52673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JSON egy rendkívül könnyű, szöveg alapú formátum. Pont úgy néz ki, mint egy JavaScript objektum, azzal a különbséggel, hogy a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kulcsneveket is dupla idézőjelbe kell tenni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4619625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szerverek (PHP, Python, Java) JSON szövegként küldik át az adatot az interneten, a böngésző pedig visszaalakítja JS objektummá.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505075"/>
            <a:ext cx="457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Ez egy Szöveg (JSON), ami a hálózaton utazik: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733675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5650" y="2733675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jsonSzoveg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33675"/>
            <a:ext cx="4381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'{"nev": "Peti", "kor": 18, "aktiv": true}'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419475"/>
            <a:ext cx="466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Átalakítás használható JS Objektummá (Parsing)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648075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5650" y="3648075"/>
            <a:ext cx="1047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felhasznalo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150" y="3648075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648075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6900" y="3648075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jsonSzoveg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3876675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150" y="38766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7150" y="3876675"/>
            <a:ext cx="1047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felhasznalo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0150" y="38766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nev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3876675"/>
            <a:ext cx="1619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Eredmény: Peti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4333875"/>
            <a:ext cx="4762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JS Objektum átalakítása szöveggé (pl. küldéshez a szervernek)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4791075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5650" y="4791075"/>
            <a:ext cx="1143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kuldendoAdat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4400" y="4791075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0650" y="4791075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stringify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3650" y="4791075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tema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150" y="4791075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"AJAX"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Az Adatok Nyelve: 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95525"/>
            <a:ext cx="5267325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2200275"/>
            <a:ext cx="5267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Régen az AJAX kéréseket (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XMLHttpRequest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) és minden aszinkron feladatot Callback (visszahívó) függvényekkel oldottak meg.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3257550"/>
            <a:ext cx="52673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Amikor befejeződött egy hálózati kérés, meghívott egy függvényt. Ha annak az eredményéből egy újabb kérést kellett indítani, egy újabb függvényt ágyaztunk be. 3-4 egymásra épülő feladatnál a kód elkezdett jobbra tolakodni, olvashatatlanná és hibakeresésre alkalmatlanná vált.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4924425"/>
            <a:ext cx="5267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Ezt a fenomént hívja a programozó szleng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Callback Pokolnak (Pyramid of Doom)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505075"/>
            <a:ext cx="2571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Szimulált Callback Pokol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733675"/>
            <a:ext cx="123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bejelentkezes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7650" y="2733675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150" y="2733675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0650" y="2733675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7900" y="2733675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2962275"/>
            <a:ext cx="2286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felhasznaloAdataiLekeres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5900" y="2962275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962275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29900" y="2962275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profil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3419475"/>
            <a:ext cx="1619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profilKepLetoltes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9650" y="3419475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profil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3419475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kepId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3648075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400" y="3648075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kepURL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5650" y="3876675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kepMegjelenitese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4900" y="3876675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kepURL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6900" y="3876675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function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150" y="4105275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58150" y="4105275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150" y="4105275"/>
            <a:ext cx="2476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"Végre kész vagyunk... 😱"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 Régi Megoldás és a "Callback Hell"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7387"/>
            <a:ext cx="5267325" cy="405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862137"/>
            <a:ext cx="52673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Az ES6 (2015) bevezette a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Promise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objektumot. Ez a JavaScript ígérete arra, hogy egy aszinkron művelet (pl. letöltés) a jövőben valamikor be fog fejeződni, vagy sikerrel, vagy hibával.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3224212"/>
            <a:ext cx="5267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Állapotai: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671887"/>
            <a:ext cx="4981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Pending: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Folyamatban (még tölt az adat).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110037"/>
            <a:ext cx="498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Fulfilled (Resolved):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Sikeres (megjött az adat). Ezt a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.then()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ágon kapjuk 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852987"/>
            <a:ext cx="498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0000"/>
                </a:solidFill>
                <a:latin typeface="Roboto"/>
              </a:rPr>
              <a:t>Rejected: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Hiba történt (nincs internet, 404). Ezt a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.catch()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ágon kapjuk 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166937"/>
            <a:ext cx="466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Egy Promise alapú kérés struktúrája (Láncolás)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395537"/>
            <a:ext cx="2000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adatLekeresSzerverrol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26241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150" y="26241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eredmeny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0" y="26241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=&gt;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2852737"/>
            <a:ext cx="3143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Sikeres ág: Ha megjött az adat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30813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7150" y="30813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8150" y="30813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"Siker!"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0650" y="30813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eredmeny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33099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1900" y="3309937"/>
            <a:ext cx="1333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kovetkezoKeres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0650" y="3309937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eredmeny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7900" y="33099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250DF"/>
                </a:solidFill>
                <a:latin typeface="Fira Code"/>
              </a:rP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3309937"/>
            <a:ext cx="4000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Tisztább, láncolható!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39957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then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150" y="3995737"/>
            <a:ext cx="952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ujEredmeny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39957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=&gt;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150" y="42243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7150" y="42243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8150" y="4224337"/>
            <a:ext cx="2190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"Második lépés is kész"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9900" y="46815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catch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1400" y="46815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hiba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7650" y="4681537"/>
            <a:ext cx="19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=&gt;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4150" y="4910137"/>
            <a:ext cx="4572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Hiba ág: Bármelyik fenti ponton hiba van, ide ugrik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5150" y="53673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7150" y="53673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8650" y="5367337"/>
            <a:ext cx="1428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"Hiba történt:"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67900" y="53673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hiba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 Megváltás: Promise (Ígéret)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3690937"/>
            <a:ext cx="95250" cy="2000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4129087"/>
            <a:ext cx="95250" cy="2000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4872037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52587"/>
            <a:ext cx="526732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652587"/>
            <a:ext cx="5267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böngészőkbe épített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fetch()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parancs az AJAX hívások modern, natív módja. Ez alapból Promise-t ad vissza.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405062"/>
            <a:ext cx="5267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folyamat mindig kétlépcsős: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2852737"/>
            <a:ext cx="15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2852737"/>
            <a:ext cx="5267325" cy="3048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hálózati kérés (megkapjuk a HTTP válasz fejlécét).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0" y="3300412"/>
            <a:ext cx="152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300412"/>
            <a:ext cx="5267325" cy="914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nyers adatfolyam kibontása (parse-olás), általában a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.json()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metódussal (ami szintén aszinkron, tehát szintén Promise-t ad vissza!).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757362"/>
            <a:ext cx="5057775" cy="4362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Modern AJAX: A Fetch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43087"/>
            <a:ext cx="526732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550" y="1747837"/>
            <a:ext cx="5267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Promise-ok láncolása (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.then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) jobb, mint a callback, de néha még mindig nehezen olvasható.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500312"/>
            <a:ext cx="52673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 legmodernebb (ES8) szintaxis az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Async / Await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. Olyan, mintha szinkron kódot írnánk, ami felülről lefelé fut, miközben a motor a háttérben aszinkron kezeli az egészet. Az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await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kulcsszó "megállítja" a függvény futását, amíg a Promise le nem fut.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4167187"/>
            <a:ext cx="52673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Hibakezelésre itt a hagyományos </a:t>
            </a:r>
            <a:r>
              <a:rPr b="0" sz="1500" i="0" u="none">
                <a:solidFill>
                  <a:srgbClr val="B91C1C"/>
                </a:solidFill>
                <a:latin typeface="Roboto"/>
              </a:rPr>
              <a:t>try...catch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blokkot használjuk.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052637"/>
            <a:ext cx="4286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Az aszinkron függvényt meg kell jelölni az 'async' szóval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509837"/>
            <a:ext cx="1333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async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0" y="2509837"/>
            <a:ext cx="1905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felhasznalokLekerese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7384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150" y="2967037"/>
            <a:ext cx="3810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1. Hálózati kérés (várjuk meg: await)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150" y="31956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6650" y="31956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valasz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1956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await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34242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fetch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5650" y="3424237"/>
            <a:ext cx="2476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"https://api.ceg.hu/users"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3881437"/>
            <a:ext cx="4000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6E7781"/>
                </a:solidFill>
                <a:latin typeface="Fira Code"/>
              </a:rPr>
              <a:t>// 2. JSON átalakítás (ezt is várjuk meg!)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41100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const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6650" y="41100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adatok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41100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await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1100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valasz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150" y="41100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45672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7150" y="4567237"/>
            <a:ext cx="285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8150" y="4567237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"Letöltött adatok:"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567237"/>
            <a:ext cx="571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adatok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150" y="47958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F222E"/>
                </a:solidFill>
                <a:latin typeface="Fira Code SemiBold"/>
              </a:rPr>
              <a:t>catch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1900" y="47958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hiba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5150" y="5024437"/>
            <a:ext cx="666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550AE"/>
                </a:solidFill>
                <a:latin typeface="Fira Code"/>
              </a:rPr>
              <a:t>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7150" y="5024437"/>
            <a:ext cx="476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16329"/>
                </a:solidFill>
                <a:latin typeface="Fira Code"/>
              </a:rPr>
              <a:t>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8650" y="5024437"/>
            <a:ext cx="2571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A3069"/>
                </a:solidFill>
                <a:latin typeface="Fira Code"/>
              </a:rPr>
              <a:t>"Nem sikerült kapcsolódni:"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150" y="5253037"/>
            <a:ext cx="381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24292F"/>
                </a:solidFill>
                <a:latin typeface="Fira Code"/>
              </a:rPr>
              <a:t>hiba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 Csúcs: Async / Await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143125"/>
            <a:ext cx="5362575" cy="3590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43125"/>
            <a:ext cx="5362575" cy="3590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181350"/>
            <a:ext cx="5010626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LocalStorage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609975"/>
            <a:ext cx="477202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Az adatok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tartósan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mentődnek a böngészőbe. Bezárás vagy gép újraindítás után is megmaradnak. (Pl. felhasználói beállítások, sötét mód állapota). Kapacitása kb. 5-10 MB, és szigorúan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csak szöveget (String)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tud tárolni (JSON.stringify szükséges az objektumokhoz!).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3181350"/>
            <a:ext cx="5010626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"/>
              </a:rPr>
              <a:t>SessionStorage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609975"/>
            <a:ext cx="47720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Ugyanaz az API, de az adatok csak az adott </a:t>
            </a:r>
            <a:r>
              <a:rPr b="1" sz="1500" i="0" u="none">
                <a:solidFill>
                  <a:srgbClr val="000000"/>
                </a:solidFill>
                <a:latin typeface="Roboto"/>
              </a:rPr>
              <a:t>munkamenet (Session)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 idejére élnek. Ha a felhasználó bezárja a böngésző fület (tabot), a SessionStorage tartalma azonnal törlődik.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466975"/>
            <a:ext cx="428625" cy="428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466975"/>
            <a:ext cx="428625" cy="4286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Adattárolás a böngészőben: Web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0550" y="2096541"/>
            <a:ext cx="11010900" cy="368409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2096541"/>
          <a:ext cx="11001374" cy="3684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33662"/>
                <a:gridCol w="2957512"/>
                <a:gridCol w="5410200"/>
              </a:tblGrid>
              <a:tr h="92102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Roboto"/>
                        </a:rPr>
                        <a:t>API Objektum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Roboto"/>
                        </a:rPr>
                        <a:t>Gyakori Metódus / Tulajdonság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Roboto"/>
                        </a:rPr>
                        <a:t>Mire használjuk?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92102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window.location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location.href = "ujoldal.html"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Átirányítás másik oldalra, vagy a jelenlegi URL (webcím) lekérdezése paraméterekkel.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102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window.history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history.back()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Olyan, mint a böngésző "Vissza" gombja, JavaScriptből vezérelve. Ezen alapulnak az SPA (Single Page Application) rendszerek.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10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navigator.geolocation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getCurrentPosition()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Roboto"/>
                        </a:rPr>
                        <a:t>Elkéri a felhasználó GPS/IP alapú koordinátáit (Engedélykérés felugró ablakkal jár!).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5312" y="3049041"/>
            <a:ext cx="263366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28975" y="3049041"/>
            <a:ext cx="295751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86487" y="3049041"/>
            <a:ext cx="5410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5312" y="3964334"/>
            <a:ext cx="26336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28975" y="3964334"/>
            <a:ext cx="2957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6487" y="3964334"/>
            <a:ext cx="5410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5312" y="4865340"/>
            <a:ext cx="26336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8975" y="4865340"/>
            <a:ext cx="2957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6487" y="4865340"/>
            <a:ext cx="5410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Hasznos Böngésző (BOM) API-k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5277" y="2291655"/>
            <a:ext cx="11561445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375" i="0" u="none">
                <a:solidFill>
                  <a:srgbClr val="1E3A8A"/>
                </a:solidFill>
                <a:latin typeface="Roboto"/>
              </a:rPr>
              <a:t>Köszönöm a figyelmet!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3482280"/>
            <a:ext cx="110109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334155"/>
                </a:solidFill>
                <a:latin typeface="Roboto"/>
              </a:rPr>
              <a:t>Kérdések a DOM manipulációról, Aszinkron kódolásról vagy az AJAX működéséről?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4289970"/>
            <a:ext cx="110109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64748B"/>
                </a:solidFill>
                <a:latin typeface="Fira Code"/>
              </a:rPr>
              <a:t>Informatikai Szakmák • Haladó Webfejlesztési Modul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0550" y="1981348"/>
            <a:ext cx="59817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0550" y="2766119"/>
            <a:ext cx="59817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3550890"/>
            <a:ext cx="59817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0550" y="4335660"/>
            <a:ext cx="59817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000398"/>
            <a:ext cx="148232" cy="2190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0550" y="2756594"/>
            <a:ext cx="598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0550" y="2756594"/>
            <a:ext cx="598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785169"/>
            <a:ext cx="148232" cy="2190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0550" y="3541365"/>
            <a:ext cx="598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" y="3541365"/>
            <a:ext cx="598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3569940"/>
            <a:ext cx="148232" cy="2190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0550" y="4326135"/>
            <a:ext cx="598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550" y="4326135"/>
            <a:ext cx="598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354710"/>
            <a:ext cx="148232" cy="2190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90550" y="5110906"/>
            <a:ext cx="598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0550" y="5110906"/>
            <a:ext cx="598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5139481"/>
            <a:ext cx="148232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130772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71675" y="2124223"/>
            <a:ext cx="4600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https://upload.wikimedia.org/wikipedia/commons/5/54/DOM-model.svg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1675" y="2369939"/>
            <a:ext cx="4600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en.wikipedia.org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915542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971675" y="2908994"/>
            <a:ext cx="4600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https://www.freecodecamp.org/news/content/images/2022/01/event-bubbling-1.png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1675" y="3154709"/>
            <a:ext cx="4600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www.freecodecamp.org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700313"/>
            <a:ext cx="857250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971675" y="3693765"/>
            <a:ext cx="4600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https://miro.medium.com/v2/resize:fit:1400/1*O_iZ3hB8Q2wVwP1R14bHSA.png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71675" y="3939480"/>
            <a:ext cx="4600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medium.com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485084"/>
            <a:ext cx="857250" cy="476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971675" y="4478535"/>
            <a:ext cx="4600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https://study.com/cimages/videopreview/videopreview-full/bngu57p44u.jpg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1675" y="4724251"/>
            <a:ext cx="4600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study.com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5269855"/>
            <a:ext cx="857250" cy="476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71675" y="5263306"/>
            <a:ext cx="4600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https://rapidapi.com/blog/wp-content/uploads/2018/06/api-data-json-format.png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71675" y="5509021"/>
            <a:ext cx="4600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rapidapi.com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Image Sources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0550" y="1981348"/>
            <a:ext cx="77819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0550" y="2766119"/>
            <a:ext cx="77819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0550" y="3550890"/>
            <a:ext cx="77819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0550" y="4335660"/>
            <a:ext cx="77819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000398"/>
            <a:ext cx="148232" cy="2190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0550" y="2756594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2756594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785169"/>
            <a:ext cx="148232" cy="2190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0550" y="3541365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3541365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3569940"/>
            <a:ext cx="148232" cy="2190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0550" y="4326135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4326135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4354710"/>
            <a:ext cx="148232" cy="2190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90550" y="5110906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550" y="5110906"/>
            <a:ext cx="77819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5139481"/>
            <a:ext cx="148232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130772"/>
            <a:ext cx="857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71675" y="2124223"/>
            <a:ext cx="64008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https://miro.medium.com/1*u5IUlH9k6qMh9CbafyHj7A.png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1675" y="2369939"/>
            <a:ext cx="64008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medium.com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915542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71675" y="2908994"/>
            <a:ext cx="64008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https://tr.javascript.info/article/bubbling-and-capturing/eventflow.svg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1675" y="3154709"/>
            <a:ext cx="64008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tr.javascript.info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700313"/>
            <a:ext cx="857250" cy="47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71675" y="3693765"/>
            <a:ext cx="64008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https://media.geeksforgeeks.org/wp-content/uploads/20200224050909/nodejs2.png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71675" y="3939480"/>
            <a:ext cx="64008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www.geeksforgeeks.org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485084"/>
            <a:ext cx="2038350" cy="609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971675" y="4478535"/>
            <a:ext cx="64008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https://media.geeksforgeeks.org/wp-content/uploads/20221025185338/Group10-660x356.png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71675" y="4724251"/>
            <a:ext cx="64008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www.geeksforgeeks.org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5269855"/>
            <a:ext cx="857250" cy="476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971675" y="5263306"/>
            <a:ext cx="64008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https://res.cloudinary.com/herotofu/image/upload/f_auto,c_limit,w_1080,q_auto/images/terms/rest-api-illustration.png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71675" y="5509021"/>
            <a:ext cx="64008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herotofu.com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495300"/>
            <a:ext cx="11561445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1E40AF"/>
                </a:solidFill>
                <a:latin typeface="Roboto"/>
              </a:rPr>
              <a:t>Image Sources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